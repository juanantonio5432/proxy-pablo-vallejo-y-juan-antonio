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22"/>
    <p:sldId id="269" r:id="rId21"/>
    <p:sldId id="268" r:id="rId20"/>
    <p:sldId id="267" r:id="rId19"/>
    <p:sldId id="266" r:id="rId18"/>
    <p:sldId id="265" r:id="rId17"/>
    <p:sldId id="264" r:id="rId16"/>
    <p:sldId id="263" r:id="rId15"/>
    <p:sldId id="262" r:id="rId14"/>
    <p:sldId id="261" r:id="rId13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45313-6423-4321-8CA0-C9D9BE70184F}" v="14" dt="2026-01-14T19:53:48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Correa Ramirez" userId="57a1d48c-417d-48e2-a516-1a7c1fb993e3" providerId="ADAL" clId="{78887407-643F-47A8-8CEF-F63A228B14F9}"/>
    <pc:docChg chg="modSld">
      <pc:chgData name="Mariana Correa Ramirez" userId="57a1d48c-417d-48e2-a516-1a7c1fb993e3" providerId="ADAL" clId="{78887407-643F-47A8-8CEF-F63A228B14F9}" dt="2026-01-14T19:53:48.190" v="13"/>
      <pc:docMkLst>
        <pc:docMk/>
      </pc:docMkLst>
      <pc:sldChg chg="setBg">
        <pc:chgData name="Mariana Correa Ramirez" userId="57a1d48c-417d-48e2-a516-1a7c1fb993e3" providerId="ADAL" clId="{78887407-643F-47A8-8CEF-F63A228B14F9}" dt="2026-01-14T19:53:26.938" v="5"/>
        <pc:sldMkLst>
          <pc:docMk/>
          <pc:sldMk cId="259367394" sldId="256"/>
        </pc:sldMkLst>
      </pc:sldChg>
      <pc:sldChg chg="setBg">
        <pc:chgData name="Mariana Correa Ramirez" userId="57a1d48c-417d-48e2-a516-1a7c1fb993e3" providerId="ADAL" clId="{78887407-643F-47A8-8CEF-F63A228B14F9}" dt="2026-01-14T19:53:36.272" v="7"/>
        <pc:sldMkLst>
          <pc:docMk/>
          <pc:sldMk cId="2612851917" sldId="257"/>
        </pc:sldMkLst>
      </pc:sldChg>
      <pc:sldChg chg="setBg">
        <pc:chgData name="Mariana Correa Ramirez" userId="57a1d48c-417d-48e2-a516-1a7c1fb993e3" providerId="ADAL" clId="{78887407-643F-47A8-8CEF-F63A228B14F9}" dt="2026-01-14T19:53:41.018" v="9"/>
        <pc:sldMkLst>
          <pc:docMk/>
          <pc:sldMk cId="336799566" sldId="258"/>
        </pc:sldMkLst>
      </pc:sldChg>
      <pc:sldChg chg="setBg">
        <pc:chgData name="Mariana Correa Ramirez" userId="57a1d48c-417d-48e2-a516-1a7c1fb993e3" providerId="ADAL" clId="{78887407-643F-47A8-8CEF-F63A228B14F9}" dt="2026-01-14T19:53:44.708" v="11"/>
        <pc:sldMkLst>
          <pc:docMk/>
          <pc:sldMk cId="214070284" sldId="259"/>
        </pc:sldMkLst>
      </pc:sldChg>
      <pc:sldChg chg="setBg">
        <pc:chgData name="Mariana Correa Ramirez" userId="57a1d48c-417d-48e2-a516-1a7c1fb993e3" providerId="ADAL" clId="{78887407-643F-47A8-8CEF-F63A228B14F9}" dt="2026-01-14T19:53:48.190" v="13"/>
        <pc:sldMkLst>
          <pc:docMk/>
          <pc:sldMk cId="347736016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1CD0C-2133-1BEB-B1D0-2B5BA87B0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6585A-B9A6-1153-1B3F-631F77B9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C95B5-498E-3803-3AB8-D8181146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CE6B0-210F-8232-7203-DEA42DC0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824E0D-E6C8-44AF-E902-56158D2A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95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D6C11-2F68-0AA4-5D2D-B5D81CA2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A774E-F425-9451-2AD3-69C4CA34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D38164-B509-50D7-F133-B0D241A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201D6-698C-F87A-E87B-90B38865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D4390E-5080-AE27-848F-DE99B7E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99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1F43B-6F90-3C9A-721D-847746D8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805D2-D47A-E1C0-302A-7BB9D046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1E4870-6C61-F8D6-F30F-159BDEB9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712B1C-6462-CA09-DD85-B9A01082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2A97A-0F17-7FD2-212C-3029940C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71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161EC-0316-6F85-1E61-6DBCB402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347F2-FC82-C076-01DE-0936CFC48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F09E2-86C5-D68C-6770-CC9276E30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216C7-A653-7989-EBE3-82E43695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0FA8D9-DD0C-08C2-5C81-28054EF0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9524B-2360-C1E7-0478-D6A0D2A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BE79-344B-3711-264F-57C7E63A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CC3AA-8215-056C-2A41-E56566F9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211A87-89E2-5D25-B2ED-57078C2B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E39C36-017C-3060-41E0-299B3450A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890FD3-2935-8032-0EB3-1FC3B8C2E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CADFA3-E82F-0317-AD8F-8D23EC41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C78A-5B6C-10FA-EDF0-695E7063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B40355-4549-A31B-969F-3574C6ED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1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ED56A-4167-233A-B17A-4EA99DEA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0ECB5D-9483-99FF-8340-A5AFB86E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B8DE2-7185-0915-7BC7-2E69A4AC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A605D0-CE9B-9FAD-2423-243602F2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95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A0CC1B-120C-0F49-D36D-BAEA60A7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C13FED-D615-8DC2-101D-1DF2E4E4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1C7337-BFDB-B02E-ABB0-E5F83488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1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E25C8-728A-6BA2-6934-E8192C5A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3D7EC-3401-B428-49CE-0A834F813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D5D9E-91E8-3A0F-1BBA-D22CF9A40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1744F7-4977-D716-D08F-2D943793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CF612-0764-A237-6897-F8915658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1CE97-CEF7-7A2A-C0E7-BF3ECF1B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14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BF6FF-9D40-4E22-423A-24BCED9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AE2320-1EF8-003E-2F6F-991A9E8BE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8EBBEE-3BC4-8972-A192-830C1E66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8B12D-1D38-E41C-6803-3FE1E40E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D7CE7-FABD-36B4-343A-099F0634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B1085-6A7E-F994-332B-F9D4ED7A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46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6CD1-97A6-41D4-28AA-B32F657D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EF27E2-E27E-149C-BC2C-E16CF5B6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D596B-F08E-D8DC-3217-046FC78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465918-6A68-CE14-D808-1B90E20C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D175A-B95F-2937-C436-441D1C53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542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52D2DB-EFA7-98E3-90EE-8EB3AA390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46938F-F1E8-0110-3C15-B607291B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93203-DCE5-F0FB-F797-60563B5B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442C7-77F8-3A9E-4D25-ED66E61F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383B7-3672-B332-2E2D-96ABBFE5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44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E03C0-4FF8-9B66-804E-9DB25FA2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E8E20-C9F3-92B2-BB3C-35445007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CDC47-BF3C-C07C-BF61-73B5ECC9B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595B2-135B-48A5-BC21-28672747E2A0}" type="datetimeFigureOut">
              <a:rPr lang="es-CO" smtClean="0"/>
              <a:t>14/01/2026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BD969-ED41-AF96-E758-7B89E1583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A31B0-02B2-5B64-BD04-BA5B0FF61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31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7BFA4CA-B9E0-46E2-7D90-68EC6C9199D2}"/>
              </a:ext>
            </a:extLst>
          </p:cNvPr>
          <p:cNvSpPr txBox="1"/>
          <p:nvPr/>
        </p:nvSpPr>
        <p:spPr>
          <a:xfrm>
            <a:off x="5902037" y="2699542"/>
            <a:ext cx="564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Patrón de diseño Proxy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20E6A6-0A78-F7F3-8D6A-6DF0810D021B}"/>
              </a:ext>
            </a:extLst>
          </p:cNvPr>
          <p:cNvSpPr txBox="1"/>
          <p:nvPr/>
        </p:nvSpPr>
        <p:spPr>
          <a:xfrm>
            <a:off x="5902037" y="3345873"/>
            <a:ext cx="5643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Patrones estructurales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7778F3-8D27-7038-9A7B-DC089F793344}"/>
              </a:ext>
            </a:extLst>
          </p:cNvPr>
          <p:cNvSpPr txBox="1"/>
          <p:nvPr/>
        </p:nvSpPr>
        <p:spPr>
          <a:xfrm>
            <a:off x="3689929" y="6075218"/>
            <a:ext cx="785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i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Expositores: Pablo Vallejo y Juan Antonio Gil</a:t>
            </a:r>
          </a:p>
        </p:txBody>
      </p:sp>
    </p:spTree>
    <p:extLst>
      <p:ext uri="{BB962C8B-B14F-4D97-AF65-F5344CB8AC3E}">
        <p14:creationId xmlns:p14="http://schemas.microsoft.com/office/powerpoint/2010/main" val="25936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Agenda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600200"/>
            <a:ext cx="566928" cy="56692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1691640" y="160020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¿Qué es el patrón Proxy?</a:t>
            </a:r>
          </a:p>
        </p:txBody>
      </p:sp>
      <p:sp>
        <p:nvSpPr>
          <p:cNvPr id="14" name="Forma 14"/>
          <p:cNvSpPr/>
          <p:nvPr/>
        </p:nvSpPr>
        <p:spPr>
          <a:xfrm>
            <a:off x="914400" y="2423160"/>
            <a:ext cx="566928" cy="56692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1691640" y="242316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El problema</a:t>
            </a:r>
          </a:p>
        </p:txBody>
      </p:sp>
      <p:sp>
        <p:nvSpPr>
          <p:cNvPr id="16" name="Forma 16"/>
          <p:cNvSpPr/>
          <p:nvPr/>
        </p:nvSpPr>
        <p:spPr>
          <a:xfrm>
            <a:off x="914400" y="3246120"/>
            <a:ext cx="566928" cy="56692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1691640" y="324612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La solución</a:t>
            </a:r>
          </a:p>
        </p:txBody>
      </p:sp>
      <p:sp>
        <p:nvSpPr>
          <p:cNvPr id="18" name="Forma 18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1691640" y="406908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Analogía del mundo real</a:t>
            </a:r>
          </a:p>
        </p:txBody>
      </p:sp>
      <p:sp>
        <p:nvSpPr>
          <p:cNvPr id="20" name="Forma 20"/>
          <p:cNvSpPr/>
          <p:nvPr/>
        </p:nvSpPr>
        <p:spPr>
          <a:xfrm>
            <a:off x="914400" y="4892040"/>
            <a:ext cx="566928" cy="56692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1691640" y="489204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Estructura</a:t>
            </a:r>
          </a:p>
        </p:txBody>
      </p:sp>
      <p:sp>
        <p:nvSpPr>
          <p:cNvPr id="22" name="Forma 22"/>
          <p:cNvSpPr/>
          <p:nvPr/>
        </p:nvSpPr>
        <p:spPr>
          <a:xfrm>
            <a:off x="6035040" y="1600200"/>
            <a:ext cx="566928" cy="566928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6812280" y="160020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Ejemplo: caché de videos</a:t>
            </a:r>
          </a:p>
        </p:txBody>
      </p:sp>
      <p:sp>
        <p:nvSpPr>
          <p:cNvPr id="24" name="Forma 24"/>
          <p:cNvSpPr/>
          <p:nvPr/>
        </p:nvSpPr>
        <p:spPr>
          <a:xfrm>
            <a:off x="6035040" y="2423160"/>
            <a:ext cx="566928" cy="566928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6812280" y="242316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Tipos de proxy</a:t>
            </a:r>
          </a:p>
        </p:txBody>
      </p:sp>
      <p:sp>
        <p:nvSpPr>
          <p:cNvPr id="26" name="Forma 26"/>
          <p:cNvSpPr/>
          <p:nvPr/>
        </p:nvSpPr>
        <p:spPr>
          <a:xfrm>
            <a:off x="6035040" y="3246120"/>
            <a:ext cx="566928" cy="566928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6812280" y="324612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Cómo implementarlo</a:t>
            </a:r>
          </a:p>
        </p:txBody>
      </p:sp>
      <p:sp>
        <p:nvSpPr>
          <p:cNvPr id="28" name="Forma 28"/>
          <p:cNvSpPr/>
          <p:nvPr/>
        </p:nvSpPr>
        <p:spPr>
          <a:xfrm>
            <a:off x="6035040" y="4069080"/>
            <a:ext cx="566928" cy="566928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29" name="Texto 29"/>
          <p:cNvSpPr txBox="1"/>
          <p:nvPr/>
        </p:nvSpPr>
        <p:spPr>
          <a:xfrm>
            <a:off x="6812280" y="406908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333333"/>
                </a:solidFill>
                <a:latin typeface="Arial"/>
                <a:cs typeface="Arial"/>
              </a:rPr>
              <a:t>Pros, contras y patrones relacionados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¿Qué es el patrón Proxy?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508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6F1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00754A"/>
                </a:solidFill>
                <a:latin typeface="Arial"/>
                <a:cs typeface="Arial"/>
              </a:rPr>
              <a:t>PATRÓN ESTRUCTURAL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914400" y="2057400"/>
            <a:ext cx="484632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dirty="0">
                <a:solidFill>
                  <a:srgbClr val="13501B"/>
                </a:solidFill>
                <a:latin typeface="Arial"/>
                <a:cs typeface="Arial"/>
              </a:rPr>
              <a:t xml:space="preserve">Un objeto sustituto que se hace pasar por el original y </a:t>
            </a:r>
            <a:r>
              <a:rPr lang="es-CO" sz="2400" b="1" i="0" dirty="0">
                <a:solidFill>
                  <a:srgbClr val="00754A"/>
                </a:solidFill>
                <a:latin typeface="Arial"/>
                <a:cs typeface="Arial"/>
              </a:rPr>
              <a:t>controla el acceso</a:t>
            </a:r>
            <a:r>
              <a:rPr lang="es-CO" sz="2400" b="1" i="0" dirty="0">
                <a:solidFill>
                  <a:srgbClr val="13501B"/>
                </a:solidFill>
                <a:latin typeface="Arial"/>
                <a:cs typeface="Arial"/>
              </a:rPr>
              <a:t xml:space="preserve"> a él.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914400" y="388620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dirty="0">
                <a:solidFill>
                  <a:srgbClr val="333333"/>
                </a:solidFill>
                <a:latin typeface="Arial"/>
                <a:cs typeface="Arial"/>
              </a:rPr>
              <a:t>Permite ejecutar lógica antes o después de que la solicitud llegue al objeto real, sin que el cliente se entere.</a:t>
            </a:r>
          </a:p>
        </p:txBody>
      </p:sp>
      <p:sp>
        <p:nvSpPr>
          <p:cNvPr id="15" name="Forma 15"/>
          <p:cNvSpPr/>
          <p:nvPr/>
        </p:nvSpPr>
        <p:spPr>
          <a:xfrm>
            <a:off x="6309360" y="20116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54A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Cliente</a:t>
            </a:r>
          </a:p>
        </p:txBody>
      </p:sp>
      <p:sp>
        <p:nvSpPr>
          <p:cNvPr id="16" name="Forma 16"/>
          <p:cNvSpPr/>
          <p:nvPr/>
        </p:nvSpPr>
        <p:spPr>
          <a:xfrm>
            <a:off x="8138160" y="1828800"/>
            <a:ext cx="1463040" cy="1280160"/>
          </a:xfrm>
          <a:prstGeom prst="roundRect">
            <a:avLst>
              <a:gd name="adj" fmla="val 12000"/>
            </a:avLst>
          </a:prstGeom>
          <a:solidFill>
            <a:srgbClr val="00754A"/>
          </a:solidFill>
          <a:ln w="22225">
            <a:solidFill>
              <a:srgbClr val="00754A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FFFFFF"/>
                </a:solidFill>
                <a:latin typeface="Arial"/>
                <a:cs typeface="Arial"/>
              </a:rPr>
              <a:t>sustituto</a:t>
            </a:r>
          </a:p>
        </p:txBody>
      </p:sp>
      <p:sp>
        <p:nvSpPr>
          <p:cNvPr id="17" name="Forma 17"/>
          <p:cNvSpPr/>
          <p:nvPr/>
        </p:nvSpPr>
        <p:spPr>
          <a:xfrm>
            <a:off x="9966960" y="20116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54A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Servicio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6B6B6B"/>
                </a:solidFill>
                <a:latin typeface="Arial"/>
                <a:cs typeface="Arial"/>
              </a:rPr>
              <a:t>objeto real</a:t>
            </a:r>
          </a:p>
        </p:txBody>
      </p:sp>
      <p:cxnSp>
        <p:nvCxnSpPr>
          <p:cNvPr id="18" name="Conector 18"/>
          <p:cNvCxnSpPr/>
          <p:nvPr/>
        </p:nvCxnSpPr>
        <p:spPr>
          <a:xfrm>
            <a:off x="7772400" y="2468880"/>
            <a:ext cx="36576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cxnSp>
        <p:nvCxnSpPr>
          <p:cNvPr id="19" name="Conector 19"/>
          <p:cNvCxnSpPr/>
          <p:nvPr/>
        </p:nvCxnSpPr>
        <p:spPr>
          <a:xfrm>
            <a:off x="9601200" y="2468880"/>
            <a:ext cx="36576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20" name="Forma 20"/>
          <p:cNvSpPr/>
          <p:nvPr/>
        </p:nvSpPr>
        <p:spPr>
          <a:xfrm>
            <a:off x="7406640" y="342900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>
            <a:noFill/>
          </a:ln>
        </p:spPr>
        <p:txBody>
          <a:bodyPr wrap="square" lIns="109728" tIns="109728" rIns="109728" bIns="10972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i="0" dirty="0">
                <a:solidFill>
                  <a:srgbClr val="C79A2B"/>
                </a:solidFill>
                <a:latin typeface="Arial"/>
                <a:cs typeface="Arial"/>
              </a:rPr>
              <a:t xml:space="preserve">antes: </a:t>
            </a: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validar, registrar, crear…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i="0" dirty="0">
                <a:solidFill>
                  <a:srgbClr val="C79A2B"/>
                </a:solidFill>
                <a:latin typeface="Arial"/>
                <a:cs typeface="Arial"/>
              </a:rPr>
              <a:t xml:space="preserve">después: </a:t>
            </a: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guardar en caché…</a:t>
            </a:r>
          </a:p>
        </p:txBody>
      </p:sp>
      <p:cxnSp>
        <p:nvCxnSpPr>
          <p:cNvPr id="21" name="Conector 21"/>
          <p:cNvCxnSpPr/>
          <p:nvPr/>
        </p:nvCxnSpPr>
        <p:spPr>
          <a:xfrm>
            <a:off x="8869680" y="3108960"/>
            <a:ext cx="0" cy="320040"/>
          </a:xfrm>
          <a:prstGeom prst="straightConnector1">
            <a:avLst/>
          </a:prstGeom>
          <a:ln w="19050">
            <a:solidFill>
              <a:srgbClr val="C79A2B"/>
            </a:solidFill>
            <a:prstDash val="dash"/>
          </a:ln>
        </p:spPr>
      </p:cxnSp>
      <p:sp>
        <p:nvSpPr>
          <p:cNvPr id="22" name="Texto 22"/>
          <p:cNvSpPr txBox="1"/>
          <p:nvPr/>
        </p:nvSpPr>
        <p:spPr>
          <a:xfrm>
            <a:off x="6309360" y="45720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1" dirty="0">
                <a:solidFill>
                  <a:srgbClr val="6B6B6B"/>
                </a:solidFill>
                <a:latin typeface="Arial"/>
                <a:cs typeface="Arial"/>
              </a:rPr>
              <a:t>Cliente, proxy y servicio hablan la misma interfaz.</a:t>
            </a:r>
          </a:p>
        </p:txBody>
      </p:sp>
    </p:spTree>
    <p:extLst>
      <p:ext uri="{BB962C8B-B14F-4D97-AF65-F5344CB8AC3E}">
        <p14:creationId xmlns:p14="http://schemas.microsoft.com/office/powerpoint/2010/main" val="33679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El problema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dirty="0">
                <a:solidFill>
                  <a:srgbClr val="00754A"/>
                </a:solidFill>
                <a:latin typeface="Arial"/>
                <a:cs typeface="Arial"/>
              </a:rPr>
              <a:t>¿Por qué querríamos controlar el acceso a un objeto?</a:t>
            </a:r>
          </a:p>
        </p:txBody>
      </p:sp>
      <p:sp>
        <p:nvSpPr>
          <p:cNvPr id="13" name="Forma 13"/>
          <p:cNvSpPr/>
          <p:nvPr/>
        </p:nvSpPr>
        <p:spPr>
          <a:xfrm>
            <a:off x="914400" y="233172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4" name="Forma 14"/>
          <p:cNvSpPr/>
          <p:nvPr/>
        </p:nvSpPr>
        <p:spPr>
          <a:xfrm>
            <a:off x="1097280" y="253288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1645920" y="25146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Recurso costoso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1097280" y="310896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333333"/>
                </a:solidFill>
                <a:latin typeface="Arial"/>
                <a:cs typeface="Arial"/>
              </a:rPr>
              <a:t>Un objeto enorme (p. ej., una conexión a base de datos) consume muchos recursos, pero solo se usa de vez en cuando.</a:t>
            </a:r>
          </a:p>
        </p:txBody>
      </p:sp>
      <p:sp>
        <p:nvSpPr>
          <p:cNvPr id="17" name="Forma 17"/>
          <p:cNvSpPr/>
          <p:nvPr/>
        </p:nvSpPr>
        <p:spPr>
          <a:xfrm>
            <a:off x="4434840" y="233172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8" name="Forma 18"/>
          <p:cNvSpPr/>
          <p:nvPr/>
        </p:nvSpPr>
        <p:spPr>
          <a:xfrm>
            <a:off x="4617720" y="253288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5166360" y="25146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B23A2E"/>
                </a:solidFill>
                <a:latin typeface="Arial"/>
                <a:cs typeface="Arial"/>
              </a:rPr>
              <a:t>Código duplicado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4617720" y="310896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333333"/>
                </a:solidFill>
                <a:latin typeface="Arial"/>
                <a:cs typeface="Arial"/>
              </a:rPr>
              <a:t>Si cada cliente implementa su propia inicialización diferida, esa lógica se repite por toda la aplicación.</a:t>
            </a:r>
          </a:p>
        </p:txBody>
      </p:sp>
      <p:sp>
        <p:nvSpPr>
          <p:cNvPr id="21" name="Forma 21"/>
          <p:cNvSpPr/>
          <p:nvPr/>
        </p:nvSpPr>
        <p:spPr>
          <a:xfrm>
            <a:off x="7955280" y="233172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2" name="Forma 22"/>
          <p:cNvSpPr/>
          <p:nvPr/>
        </p:nvSpPr>
        <p:spPr>
          <a:xfrm>
            <a:off x="8138160" y="253288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8686800" y="25146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B23A2E"/>
                </a:solidFill>
                <a:latin typeface="Arial"/>
                <a:cs typeface="Arial"/>
              </a:rPr>
              <a:t>Clase cerrada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8138160" y="310896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333333"/>
                </a:solidFill>
                <a:latin typeface="Arial"/>
                <a:cs typeface="Arial"/>
              </a:rPr>
              <a:t>Lo ideal sería poner la lógica dentro de la clase, pero a veces es de una biblioteca de terceros y no se puede modificar.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 xml:space="preserve">Resultado: </a:t>
            </a: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o desperdiciamos recursos, o ensuciamos a todos los clientes con lógica que no les corresponde.</a:t>
            </a:r>
          </a:p>
        </p:txBody>
      </p:sp>
    </p:spTree>
    <p:extLst>
      <p:ext uri="{BB962C8B-B14F-4D97-AF65-F5344CB8AC3E}">
        <p14:creationId xmlns:p14="http://schemas.microsoft.com/office/powerpoint/2010/main" val="21407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36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Ideas clave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55448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3" name="Texto 13"/>
          <p:cNvSpPr txBox="1"/>
          <p:nvPr/>
        </p:nvSpPr>
        <p:spPr>
          <a:xfrm>
            <a:off x="1143000" y="178308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i="0" dirty="0">
                <a:solidFill>
                  <a:srgbClr val="C79A2B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1143000" y="242316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13501B"/>
                </a:solidFill>
                <a:latin typeface="Arial"/>
                <a:cs typeface="Arial"/>
              </a:rPr>
              <a:t>Misma interfaz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1143000" y="301752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El proxy es intercambiable con el servicio real: el cliente no cambia.</a:t>
            </a:r>
          </a:p>
        </p:txBody>
      </p:sp>
      <p:sp>
        <p:nvSpPr>
          <p:cNvPr id="16" name="Forma 16"/>
          <p:cNvSpPr/>
          <p:nvPr/>
        </p:nvSpPr>
        <p:spPr>
          <a:xfrm>
            <a:off x="4434840" y="155448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00754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7" name="Texto 17"/>
          <p:cNvSpPr txBox="1"/>
          <p:nvPr/>
        </p:nvSpPr>
        <p:spPr>
          <a:xfrm>
            <a:off x="4663440" y="178308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i="0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4663440" y="242316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Control sin invasión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4663440" y="301752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FFFFFF"/>
                </a:solidFill>
                <a:latin typeface="Arial"/>
                <a:cs typeface="Arial"/>
              </a:rPr>
              <a:t>Añade caché, seguridad, registro o carga diferida sin modificar la clase original.</a:t>
            </a:r>
          </a:p>
        </p:txBody>
      </p:sp>
      <p:sp>
        <p:nvSpPr>
          <p:cNvPr id="20" name="Forma 20"/>
          <p:cNvSpPr/>
          <p:nvPr/>
        </p:nvSpPr>
        <p:spPr>
          <a:xfrm>
            <a:off x="7955280" y="155448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1" name="Texto 21"/>
          <p:cNvSpPr txBox="1"/>
          <p:nvPr/>
        </p:nvSpPr>
        <p:spPr>
          <a:xfrm>
            <a:off x="8183880" y="178308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i="0" dirty="0">
                <a:solidFill>
                  <a:srgbClr val="C79A2B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2" name="Texto 22"/>
          <p:cNvSpPr txBox="1"/>
          <p:nvPr/>
        </p:nvSpPr>
        <p:spPr>
          <a:xfrm>
            <a:off x="8183880" y="242316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13501B"/>
                </a:solidFill>
                <a:latin typeface="Arial"/>
                <a:cs typeface="Arial"/>
              </a:rPr>
              <a:t>Con criterio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8183880" y="301752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Cada proxy suma una clase y algo de latencia: úsalo cuando el control lo justifique.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i="0" dirty="0">
                <a:solidFill>
                  <a:srgbClr val="6B6B6B"/>
                </a:solidFill>
                <a:latin typeface="Arial"/>
                <a:cs typeface="Arial"/>
              </a:rPr>
              <a:t xml:space="preserve">Fuente: </a:t>
            </a:r>
            <a:r>
              <a:rPr lang="es-CO" sz="1200" b="0" i="0" dirty="0">
                <a:solidFill>
                  <a:srgbClr val="6B6B6B"/>
                </a:solidFill>
                <a:latin typeface="Arial"/>
                <a:cs typeface="Arial"/>
              </a:rPr>
              <a:t>Refactoring.Guru — refactoring.guru/es/design-patterns/proxy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Relación con otros patrones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463040"/>
            <a:ext cx="2011680" cy="548640"/>
          </a:xfrm>
          <a:prstGeom prst="rect">
            <a:avLst/>
          </a:prstGeom>
          <a:solidFill>
            <a:srgbClr val="13501B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Patrón</a:t>
            </a:r>
          </a:p>
        </p:txBody>
      </p:sp>
      <p:sp>
        <p:nvSpPr>
          <p:cNvPr id="13" name="Forma 13"/>
          <p:cNvSpPr/>
          <p:nvPr/>
        </p:nvSpPr>
        <p:spPr>
          <a:xfrm>
            <a:off x="3063240" y="1463040"/>
            <a:ext cx="2880360" cy="548640"/>
          </a:xfrm>
          <a:prstGeom prst="rect">
            <a:avLst/>
          </a:prstGeom>
          <a:solidFill>
            <a:srgbClr val="13501B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Interfaz hacia el cliente</a:t>
            </a:r>
          </a:p>
        </p:txBody>
      </p:sp>
      <p:sp>
        <p:nvSpPr>
          <p:cNvPr id="14" name="Forma 14"/>
          <p:cNvSpPr/>
          <p:nvPr/>
        </p:nvSpPr>
        <p:spPr>
          <a:xfrm>
            <a:off x="6080760" y="1463040"/>
            <a:ext cx="5166360" cy="548640"/>
          </a:xfrm>
          <a:prstGeom prst="rect">
            <a:avLst/>
          </a:prstGeom>
          <a:solidFill>
            <a:srgbClr val="13501B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Diferencia con Proxy</a:t>
            </a:r>
          </a:p>
        </p:txBody>
      </p:sp>
      <p:sp>
        <p:nvSpPr>
          <p:cNvPr id="15" name="Forma 15"/>
          <p:cNvSpPr/>
          <p:nvPr/>
        </p:nvSpPr>
        <p:spPr>
          <a:xfrm>
            <a:off x="914400" y="2103120"/>
            <a:ext cx="2011680" cy="777240"/>
          </a:xfrm>
          <a:prstGeom prst="rect">
            <a:avLst/>
          </a:prstGeom>
          <a:solidFill>
            <a:srgbClr val="FBF3DF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Proxy</a:t>
            </a:r>
          </a:p>
        </p:txBody>
      </p:sp>
      <p:sp>
        <p:nvSpPr>
          <p:cNvPr id="16" name="Forma 16"/>
          <p:cNvSpPr/>
          <p:nvPr/>
        </p:nvSpPr>
        <p:spPr>
          <a:xfrm>
            <a:off x="3063240" y="2103120"/>
            <a:ext cx="2880360" cy="777240"/>
          </a:xfrm>
          <a:prstGeom prst="rect">
            <a:avLst/>
          </a:prstGeom>
          <a:solidFill>
            <a:srgbClr val="FBF3DF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La misma que el servicio</a:t>
            </a:r>
          </a:p>
        </p:txBody>
      </p:sp>
      <p:sp>
        <p:nvSpPr>
          <p:cNvPr id="17" name="Forma 17"/>
          <p:cNvSpPr/>
          <p:nvPr/>
        </p:nvSpPr>
        <p:spPr>
          <a:xfrm>
            <a:off x="6080760" y="2103120"/>
            <a:ext cx="5166360" cy="777240"/>
          </a:xfrm>
          <a:prstGeom prst="rect">
            <a:avLst/>
          </a:prstGeom>
          <a:solidFill>
            <a:srgbClr val="FBF3DF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Gestiona por su cuenta el ciclo de vida del servicio.</a:t>
            </a:r>
          </a:p>
        </p:txBody>
      </p:sp>
      <p:sp>
        <p:nvSpPr>
          <p:cNvPr id="18" name="Forma 18"/>
          <p:cNvSpPr/>
          <p:nvPr/>
        </p:nvSpPr>
        <p:spPr>
          <a:xfrm>
            <a:off x="914400" y="2971800"/>
            <a:ext cx="2011680" cy="77724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Adapter</a:t>
            </a:r>
          </a:p>
        </p:txBody>
      </p:sp>
      <p:sp>
        <p:nvSpPr>
          <p:cNvPr id="19" name="Forma 19"/>
          <p:cNvSpPr/>
          <p:nvPr/>
        </p:nvSpPr>
        <p:spPr>
          <a:xfrm>
            <a:off x="3063240" y="2971800"/>
            <a:ext cx="2880360" cy="77724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Una interfaz diferente</a:t>
            </a:r>
          </a:p>
        </p:txBody>
      </p:sp>
      <p:sp>
        <p:nvSpPr>
          <p:cNvPr id="20" name="Forma 20"/>
          <p:cNvSpPr/>
          <p:nvPr/>
        </p:nvSpPr>
        <p:spPr>
          <a:xfrm>
            <a:off x="6080760" y="2971800"/>
            <a:ext cx="5166360" cy="77724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Adapta un objeto existente a otra interfaz.</a:t>
            </a:r>
          </a:p>
        </p:txBody>
      </p:sp>
      <p:sp>
        <p:nvSpPr>
          <p:cNvPr id="21" name="Forma 21"/>
          <p:cNvSpPr/>
          <p:nvPr/>
        </p:nvSpPr>
        <p:spPr>
          <a:xfrm>
            <a:off x="914400" y="3840480"/>
            <a:ext cx="2011680" cy="777240"/>
          </a:xfrm>
          <a:prstGeom prst="rect">
            <a:avLst/>
          </a:prstGeom>
          <a:solidFill>
            <a:srgbClr val="E6F1EB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Decorator</a:t>
            </a:r>
          </a:p>
        </p:txBody>
      </p:sp>
      <p:sp>
        <p:nvSpPr>
          <p:cNvPr id="22" name="Forma 22"/>
          <p:cNvSpPr/>
          <p:nvPr/>
        </p:nvSpPr>
        <p:spPr>
          <a:xfrm>
            <a:off x="3063240" y="3840480"/>
            <a:ext cx="2880360" cy="777240"/>
          </a:xfrm>
          <a:prstGeom prst="rect">
            <a:avLst/>
          </a:prstGeom>
          <a:solidFill>
            <a:srgbClr val="E6F1EB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Una interfaz mejorada</a:t>
            </a:r>
          </a:p>
        </p:txBody>
      </p:sp>
      <p:sp>
        <p:nvSpPr>
          <p:cNvPr id="23" name="Forma 23"/>
          <p:cNvSpPr/>
          <p:nvPr/>
        </p:nvSpPr>
        <p:spPr>
          <a:xfrm>
            <a:off x="6080760" y="3840480"/>
            <a:ext cx="5166360" cy="777240"/>
          </a:xfrm>
          <a:prstGeom prst="rect">
            <a:avLst/>
          </a:prstGeom>
          <a:solidFill>
            <a:srgbClr val="E6F1EB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Estructura similar, pero la composición la controla el cliente.</a:t>
            </a:r>
          </a:p>
        </p:txBody>
      </p:sp>
      <p:sp>
        <p:nvSpPr>
          <p:cNvPr id="24" name="Forma 24"/>
          <p:cNvSpPr/>
          <p:nvPr/>
        </p:nvSpPr>
        <p:spPr>
          <a:xfrm>
            <a:off x="914400" y="4709160"/>
            <a:ext cx="2011680" cy="77724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Facade</a:t>
            </a:r>
          </a:p>
        </p:txBody>
      </p:sp>
      <p:sp>
        <p:nvSpPr>
          <p:cNvPr id="25" name="Forma 25"/>
          <p:cNvSpPr/>
          <p:nvPr/>
        </p:nvSpPr>
        <p:spPr>
          <a:xfrm>
            <a:off x="3063240" y="4709160"/>
            <a:ext cx="2880360" cy="77724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Una interfaz simplificada</a:t>
            </a:r>
          </a:p>
        </p:txBody>
      </p:sp>
      <p:sp>
        <p:nvSpPr>
          <p:cNvPr id="26" name="Forma 26"/>
          <p:cNvSpPr/>
          <p:nvPr/>
        </p:nvSpPr>
        <p:spPr>
          <a:xfrm>
            <a:off x="6080760" y="4709160"/>
            <a:ext cx="5166360" cy="77724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También puede inicializar algo complejo, pero no es intercambiable con el objeto.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Pros y contras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463040"/>
            <a:ext cx="5852160" cy="3566160"/>
          </a:xfrm>
          <a:prstGeom prst="roundRect">
            <a:avLst>
              <a:gd name="adj" fmla="val 5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3" name="Texto 13"/>
          <p:cNvSpPr txBox="1"/>
          <p:nvPr/>
        </p:nvSpPr>
        <p:spPr>
          <a:xfrm>
            <a:off x="1188720" y="16459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dirty="0">
                <a:solidFill>
                  <a:srgbClr val="00754A"/>
                </a:solidFill>
                <a:latin typeface="Arial"/>
                <a:cs typeface="Arial"/>
              </a:rPr>
              <a:t xml:space="preserve">✓  Ventajas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1188720" y="2240280"/>
            <a:ext cx="530352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Controlas el servicio sin que los clientes lo sepan.</a:t>
            </a:r>
          </a:p>
          <a:p>
            <a:pPr algn="l" marL="228600" indent="-22860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Gestionas el ciclo de vida del servicio cuando a los clientes no les importa.</a:t>
            </a:r>
          </a:p>
          <a:p>
            <a:pPr algn="l" marL="228600" indent="-22860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Funciona aunque el servicio aún no esté listo o disponible.</a:t>
            </a:r>
          </a:p>
          <a:p>
            <a:pPr algn="l" marL="228600" indent="-22860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Principio abierto/cerrado: nuevos proxies sin cambiar servicio ni clientes.</a:t>
            </a:r>
          </a:p>
        </p:txBody>
      </p:sp>
      <p:sp>
        <p:nvSpPr>
          <p:cNvPr id="15" name="Forma 15"/>
          <p:cNvSpPr/>
          <p:nvPr/>
        </p:nvSpPr>
        <p:spPr>
          <a:xfrm>
            <a:off x="7086600" y="1463040"/>
            <a:ext cx="4160520" cy="356616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6" name="Texto 16"/>
          <p:cNvSpPr txBox="1"/>
          <p:nvPr/>
        </p:nvSpPr>
        <p:spPr>
          <a:xfrm>
            <a:off x="736092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dirty="0">
                <a:solidFill>
                  <a:srgbClr val="B23A2E"/>
                </a:solidFill>
                <a:latin typeface="Arial"/>
                <a:cs typeface="Arial"/>
              </a:rPr>
              <a:t xml:space="preserve">✗  Desventajas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7360920" y="224028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El código se complica: aparecen muchas clases nuevas.</a:t>
            </a:r>
          </a:p>
          <a:p>
            <a:pPr algn="l" marL="228600" indent="-22860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>La respuesta del servicio puede retrasarse.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Cómo implementarlo</a:t>
            </a:r>
          </a:p>
        </p:txBody>
      </p:sp>
      <p:sp>
        <p:nvSpPr>
          <p:cNvPr id="12" name="Forma 12"/>
          <p:cNvSpPr/>
          <p:nvPr/>
        </p:nvSpPr>
        <p:spPr>
          <a:xfrm>
            <a:off x="1188720" y="2084832"/>
            <a:ext cx="9784080" cy="54864"/>
          </a:xfrm>
          <a:prstGeom prst="rect">
            <a:avLst/>
          </a:prstGeom>
          <a:solidFill>
            <a:srgbClr val="C9D9CF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3" name="Forma 13"/>
          <p:cNvSpPr/>
          <p:nvPr/>
        </p:nvSpPr>
        <p:spPr>
          <a:xfrm>
            <a:off x="1463040" y="1783080"/>
            <a:ext cx="658368" cy="6583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914400" y="26517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Interfaz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914400" y="3108960"/>
            <a:ext cx="187452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0" i="0" dirty="0">
                <a:solidFill>
                  <a:srgbClr val="333333"/>
                </a:solidFill>
                <a:latin typeface="Arial"/>
                <a:cs typeface="Arial"/>
              </a:rPr>
              <a:t>Crea una interfaz común para que proxy y servicio sean intercambiables (plan B: el proxy hereda del servicio).</a:t>
            </a:r>
          </a:p>
        </p:txBody>
      </p:sp>
      <p:sp>
        <p:nvSpPr>
          <p:cNvPr id="16" name="Forma 16"/>
          <p:cNvSpPr/>
          <p:nvPr/>
        </p:nvSpPr>
        <p:spPr>
          <a:xfrm>
            <a:off x="3566160" y="1783080"/>
            <a:ext cx="658368" cy="6583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3017520" y="26517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Clase proxy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3017520" y="3108960"/>
            <a:ext cx="187452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0" i="0" dirty="0">
                <a:solidFill>
                  <a:srgbClr val="333333"/>
                </a:solidFill>
                <a:latin typeface="Arial"/>
                <a:cs typeface="Arial"/>
              </a:rPr>
              <a:t>Añade un campo con la referencia al servicio; normalmente el proxy gestiona su ciclo de vida.</a:t>
            </a:r>
          </a:p>
        </p:txBody>
      </p:sp>
      <p:sp>
        <p:nvSpPr>
          <p:cNvPr id="19" name="Forma 19"/>
          <p:cNvSpPr/>
          <p:nvPr/>
        </p:nvSpPr>
        <p:spPr>
          <a:xfrm>
            <a:off x="5669280" y="1783080"/>
            <a:ext cx="658368" cy="6583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5120640" y="26517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Métodos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5120640" y="3108960"/>
            <a:ext cx="187452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0" i="0" dirty="0">
                <a:solidFill>
                  <a:srgbClr val="333333"/>
                </a:solidFill>
                <a:latin typeface="Arial"/>
                <a:cs typeface="Arial"/>
              </a:rPr>
              <a:t>Implementa la lógica propia del proxy y luego delega al servicio.</a:t>
            </a:r>
          </a:p>
        </p:txBody>
      </p:sp>
      <p:sp>
        <p:nvSpPr>
          <p:cNvPr id="22" name="Forma 22"/>
          <p:cNvSpPr/>
          <p:nvPr/>
        </p:nvSpPr>
        <p:spPr>
          <a:xfrm>
            <a:off x="7772400" y="1783080"/>
            <a:ext cx="658368" cy="658368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7223760" y="26517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Creación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223760" y="3108960"/>
            <a:ext cx="187452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0" i="0" dirty="0">
                <a:solidFill>
                  <a:srgbClr val="333333"/>
                </a:solidFill>
                <a:latin typeface="Arial"/>
                <a:cs typeface="Arial"/>
              </a:rPr>
              <a:t>Considera un método de creación o fábrica que decida si el cliente recibe proxy o servicio real.</a:t>
            </a:r>
          </a:p>
        </p:txBody>
      </p:sp>
      <p:sp>
        <p:nvSpPr>
          <p:cNvPr id="25" name="Forma 25"/>
          <p:cNvSpPr/>
          <p:nvPr/>
        </p:nvSpPr>
        <p:spPr>
          <a:xfrm>
            <a:off x="9875520" y="1783080"/>
            <a:ext cx="658368" cy="658368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9326880" y="26517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Diferido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9326880" y="3108960"/>
            <a:ext cx="187452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0" i="0" dirty="0">
                <a:solidFill>
                  <a:srgbClr val="333333"/>
                </a:solidFill>
                <a:latin typeface="Arial"/>
                <a:cs typeface="Arial"/>
              </a:rPr>
              <a:t>Considera la inicialización diferida del servicio.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1" dirty="0">
                <a:solidFill>
                  <a:srgbClr val="6B6B6B"/>
                </a:solidFill>
                <a:latin typeface="Arial"/>
                <a:cs typeface="Arial"/>
              </a:rPr>
              <a:t>Pasos 1–3 son obligatorios · Pasos 4–5 son opcionales según el caso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Tipos de proxy: ¿cuándo usarlo?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463040"/>
            <a:ext cx="3246120" cy="18745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3" name="Forma 13"/>
          <p:cNvSpPr/>
          <p:nvPr/>
        </p:nvSpPr>
        <p:spPr>
          <a:xfrm>
            <a:off x="1097280" y="166420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1645920" y="16459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Virtual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1097280" y="2240280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Inicialización diferida: el objeto pesado se crea solo cuando se necesita.</a:t>
            </a:r>
          </a:p>
        </p:txBody>
      </p:sp>
      <p:sp>
        <p:nvSpPr>
          <p:cNvPr id="16" name="Forma 16"/>
          <p:cNvSpPr/>
          <p:nvPr/>
        </p:nvSpPr>
        <p:spPr>
          <a:xfrm>
            <a:off x="4434840" y="1463040"/>
            <a:ext cx="3246120" cy="187452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7" name="Forma 17"/>
          <p:cNvSpPr/>
          <p:nvPr/>
        </p:nvSpPr>
        <p:spPr>
          <a:xfrm>
            <a:off x="4617720" y="166420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5166360" y="16459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De protección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4617720" y="2240280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Control de acceso: solo deja pasar a clientes con credenciales válidas.</a:t>
            </a:r>
          </a:p>
        </p:txBody>
      </p:sp>
      <p:sp>
        <p:nvSpPr>
          <p:cNvPr id="20" name="Forma 20"/>
          <p:cNvSpPr/>
          <p:nvPr/>
        </p:nvSpPr>
        <p:spPr>
          <a:xfrm>
            <a:off x="7955280" y="1463040"/>
            <a:ext cx="3246120" cy="18745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1" name="Forma 21"/>
          <p:cNvSpPr/>
          <p:nvPr/>
        </p:nvSpPr>
        <p:spPr>
          <a:xfrm>
            <a:off x="8138160" y="166420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2" name="Texto 22"/>
          <p:cNvSpPr txBox="1"/>
          <p:nvPr/>
        </p:nvSpPr>
        <p:spPr>
          <a:xfrm>
            <a:off x="8686800" y="16459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Remoto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8138160" y="2240280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El servicio vive en otro servidor; el proxy oculta los detalles de red.</a:t>
            </a:r>
          </a:p>
        </p:txBody>
      </p:sp>
      <p:sp>
        <p:nvSpPr>
          <p:cNvPr id="24" name="Forma 24"/>
          <p:cNvSpPr/>
          <p:nvPr/>
        </p:nvSpPr>
        <p:spPr>
          <a:xfrm>
            <a:off x="914400" y="3566160"/>
            <a:ext cx="3246120" cy="187452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5" name="Forma 25"/>
          <p:cNvSpPr/>
          <p:nvPr/>
        </p:nvSpPr>
        <p:spPr>
          <a:xfrm>
            <a:off x="1097280" y="376732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164592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De registro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1097280" y="4343400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Guarda un historial de cada solicitud antes de reenviarla.</a:t>
            </a:r>
          </a:p>
        </p:txBody>
      </p:sp>
      <p:sp>
        <p:nvSpPr>
          <p:cNvPr id="28" name="Forma 28"/>
          <p:cNvSpPr/>
          <p:nvPr/>
        </p:nvSpPr>
        <p:spPr>
          <a:xfrm>
            <a:off x="4434840" y="3566160"/>
            <a:ext cx="3246120" cy="18745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9" name="Forma 29"/>
          <p:cNvSpPr/>
          <p:nvPr/>
        </p:nvSpPr>
        <p:spPr>
          <a:xfrm>
            <a:off x="4617720" y="376732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516636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De caché</a:t>
            </a:r>
          </a:p>
        </p:txBody>
      </p:sp>
      <p:sp>
        <p:nvSpPr>
          <p:cNvPr id="31" name="Texto 31"/>
          <p:cNvSpPr txBox="1"/>
          <p:nvPr/>
        </p:nvSpPr>
        <p:spPr>
          <a:xfrm>
            <a:off x="4617720" y="4343400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Reutiliza resultados de solicitudes repetidas, usando sus parámetros como clave.</a:t>
            </a:r>
          </a:p>
        </p:txBody>
      </p:sp>
      <p:sp>
        <p:nvSpPr>
          <p:cNvPr id="32" name="Forma 32"/>
          <p:cNvSpPr/>
          <p:nvPr/>
        </p:nvSpPr>
        <p:spPr>
          <a:xfrm>
            <a:off x="7955280" y="3566160"/>
            <a:ext cx="3246120" cy="187452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33" name="Forma 33"/>
          <p:cNvSpPr/>
          <p:nvPr/>
        </p:nvSpPr>
        <p:spPr>
          <a:xfrm>
            <a:off x="8138160" y="3767328"/>
            <a:ext cx="420624" cy="420624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4" name="Texto 34"/>
          <p:cNvSpPr txBox="1"/>
          <p:nvPr/>
        </p:nvSpPr>
        <p:spPr>
          <a:xfrm>
            <a:off x="868680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Referencia inteligente</a:t>
            </a:r>
          </a:p>
        </p:txBody>
      </p:sp>
      <p:sp>
        <p:nvSpPr>
          <p:cNvPr id="35" name="Texto 35"/>
          <p:cNvSpPr txBox="1"/>
          <p:nvPr/>
        </p:nvSpPr>
        <p:spPr>
          <a:xfrm>
            <a:off x="8138160" y="4343400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Libera el objeto pesado cuando ya ningún cliente lo usa.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Pseudocódigo del proxy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417320"/>
            <a:ext cx="6492240" cy="4206240"/>
          </a:xfrm>
          <a:prstGeom prst="roundRect">
            <a:avLst>
              <a:gd name="adj" fmla="val 4000"/>
            </a:avLst>
          </a:prstGeom>
          <a:solidFill>
            <a:srgbClr val="1E2A23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7FB08F"/>
                </a:solidFill>
                <a:latin typeface="Courier New"/>
                <a:cs typeface="Courier New"/>
              </a:rPr>
              <a:t>// Misma interfaz que el servicio real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>class CachedYouTubeClass implements ThirdPartyYouTubeLib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E8D9A8"/>
                </a:solidFill>
                <a:latin typeface="Courier New"/>
                <a:cs typeface="Courier New"/>
              </a:rPr>
              <a:t xml:space="preserve">    private field service: ThirdPartyYouTubeLib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E8D9A8"/>
                </a:solidFill>
                <a:latin typeface="Courier New"/>
                <a:cs typeface="Courier New"/>
              </a:rPr>
              <a:t xml:space="preserve">    private field listCache, videoCache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 xml:space="preserve"> 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 xml:space="preserve">    method listVideos()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 xml:space="preserve">        if (listCache == null || needReset)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9FD9B5"/>
                </a:solidFill>
                <a:latin typeface="Courier New"/>
                <a:cs typeface="Courier New"/>
              </a:rPr>
              <a:t xml:space="preserve">            listCache = service.listVideos()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 xml:space="preserve">        return listCache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 xml:space="preserve"> 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7FB08F"/>
                </a:solidFill>
                <a:latin typeface="Courier New"/>
                <a:cs typeface="Courier New"/>
              </a:rPr>
              <a:t>// Configuración: el cliente recibe el proxy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>service = new ThirdPartyYouTubeClass()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 xml:space="preserve">proxy   = new CachedYouTubeClass(service)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Courier New"/>
                <a:cs typeface="Courier New"/>
              </a:rPr>
              <a:t>manager = new YouTubeManager(proxy)</a:t>
            </a:r>
          </a:p>
        </p:txBody>
      </p:sp>
      <p:sp>
        <p:nvSpPr>
          <p:cNvPr id="13" name="Forma 13"/>
          <p:cNvSpPr/>
          <p:nvPr/>
        </p:nvSpPr>
        <p:spPr>
          <a:xfrm>
            <a:off x="7772400" y="141732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4" name="Texto 14"/>
          <p:cNvSpPr txBox="1"/>
          <p:nvPr/>
        </p:nvSpPr>
        <p:spPr>
          <a:xfrm>
            <a:off x="7955280" y="15270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Implementa la interfaz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7955280" y="19202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Por eso YouTubeManager lo acepta sin cambiar una línea.</a:t>
            </a:r>
          </a:p>
        </p:txBody>
      </p:sp>
      <p:sp>
        <p:nvSpPr>
          <p:cNvPr id="16" name="Forma 16"/>
          <p:cNvSpPr/>
          <p:nvPr/>
        </p:nvSpPr>
        <p:spPr>
          <a:xfrm>
            <a:off x="7772400" y="28346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7" name="Texto 17"/>
          <p:cNvSpPr txBox="1"/>
          <p:nvPr/>
        </p:nvSpPr>
        <p:spPr>
          <a:xfrm>
            <a:off x="7955280" y="294436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Envuelve al servicio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7955280" y="33375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Guarda la referencia y solo delega cuando de verdad hace falta.</a:t>
            </a:r>
          </a:p>
        </p:txBody>
      </p:sp>
      <p:sp>
        <p:nvSpPr>
          <p:cNvPr id="19" name="Forma 19"/>
          <p:cNvSpPr/>
          <p:nvPr/>
        </p:nvSpPr>
        <p:spPr>
          <a:xfrm>
            <a:off x="7772400" y="425196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0" name="Texto 20"/>
          <p:cNvSpPr txBox="1"/>
          <p:nvPr/>
        </p:nvSpPr>
        <p:spPr>
          <a:xfrm>
            <a:off x="7955280" y="436168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Decide antes de delegar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7955280" y="475488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Si el dato ya está en caché, lo devuelve sin llamar a la red.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Ejemplo: caché de videos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914400" y="141732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Una biblioteca de terceros para YouTube descarga el mismo video una y otra vez, aunque ya se haya descargado. </a:t>
            </a: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Un proxy añade caché e inicialización diferida sin tocar la biblioteca.</a:t>
            </a:r>
          </a:p>
        </p:txBody>
      </p:sp>
      <p:sp>
        <p:nvSpPr>
          <p:cNvPr id="13" name="Forma 13"/>
          <p:cNvSpPr/>
          <p:nvPr/>
        </p:nvSpPr>
        <p:spPr>
          <a:xfrm>
            <a:off x="914400" y="256032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54A"/>
            </a:solidFill>
          </a:ln>
        </p:spPr>
        <p:txBody>
          <a:bodyPr wrap="square" lIns="54864" tIns="54864" rIns="54864" bIns="54864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200" b="1" i="0" dirty="0">
                <a:solidFill>
                  <a:srgbClr val="13501B"/>
                </a:solidFill>
                <a:latin typeface="Arial"/>
                <a:cs typeface="Arial"/>
              </a:rPr>
              <a:t>YouTubeManager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6B6B6B"/>
                </a:solidFill>
                <a:latin typeface="Arial"/>
                <a:cs typeface="Arial"/>
              </a:rPr>
              <a:t>cliente (GUI)</a:t>
            </a:r>
          </a:p>
        </p:txBody>
      </p:sp>
      <p:cxnSp>
        <p:nvCxnSpPr>
          <p:cNvPr id="14" name="Conector 14"/>
          <p:cNvCxnSpPr/>
          <p:nvPr/>
        </p:nvCxnSpPr>
        <p:spPr>
          <a:xfrm>
            <a:off x="3154680" y="3108960"/>
            <a:ext cx="45720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15" name="Forma 15"/>
          <p:cNvSpPr/>
          <p:nvPr/>
        </p:nvSpPr>
        <p:spPr>
          <a:xfrm>
            <a:off x="3611880" y="256032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00754A"/>
          </a:solidFill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200" b="1" i="0" dirty="0">
                <a:solidFill>
                  <a:srgbClr val="FFFFFF"/>
                </a:solidFill>
                <a:latin typeface="Arial"/>
                <a:cs typeface="Arial"/>
              </a:rPr>
              <a:t>CachedYouTubeClass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FFFFFF"/>
                </a:solidFill>
                <a:latin typeface="Arial"/>
                <a:cs typeface="Arial"/>
              </a:rPr>
              <a:t>proxy con caché</a:t>
            </a:r>
          </a:p>
        </p:txBody>
      </p:sp>
      <p:cxnSp>
        <p:nvCxnSpPr>
          <p:cNvPr id="16" name="Conector 16"/>
          <p:cNvCxnSpPr/>
          <p:nvPr/>
        </p:nvCxnSpPr>
        <p:spPr>
          <a:xfrm>
            <a:off x="5852160" y="3108960"/>
            <a:ext cx="45720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17" name="Forma 17"/>
          <p:cNvSpPr/>
          <p:nvPr/>
        </p:nvSpPr>
        <p:spPr>
          <a:xfrm>
            <a:off x="6309360" y="256032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54A"/>
            </a:solidFill>
          </a:ln>
        </p:spPr>
        <p:txBody>
          <a:bodyPr wrap="square" lIns="54864" tIns="54864" rIns="54864" bIns="54864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200" b="1" i="0" dirty="0">
                <a:solidFill>
                  <a:srgbClr val="13501B"/>
                </a:solidFill>
                <a:latin typeface="Arial"/>
                <a:cs typeface="Arial"/>
              </a:rPr>
              <a:t>ThirdPartyYouTubeClass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6B6B6B"/>
                </a:solidFill>
                <a:latin typeface="Arial"/>
                <a:cs typeface="Arial"/>
              </a:rPr>
              <a:t>servicio de terceros</a:t>
            </a:r>
          </a:p>
        </p:txBody>
      </p:sp>
      <p:cxnSp>
        <p:nvCxnSpPr>
          <p:cNvPr id="18" name="Conector 18"/>
          <p:cNvCxnSpPr/>
          <p:nvPr/>
        </p:nvCxnSpPr>
        <p:spPr>
          <a:xfrm>
            <a:off x="8549640" y="3108960"/>
            <a:ext cx="45720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19" name="Forma 19"/>
          <p:cNvSpPr/>
          <p:nvPr/>
        </p:nvSpPr>
        <p:spPr>
          <a:xfrm>
            <a:off x="9006840" y="256032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E6F1EB"/>
          </a:solidFill>
          <a:ln w="19050">
            <a:solidFill>
              <a:srgbClr val="00754A"/>
            </a:solidFill>
          </a:ln>
        </p:spPr>
        <p:txBody>
          <a:bodyPr wrap="square" lIns="54864" tIns="54864" rIns="54864" bIns="54864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200" b="1" i="0" dirty="0">
                <a:solidFill>
                  <a:srgbClr val="13501B"/>
                </a:solidFill>
                <a:latin typeface="Arial"/>
                <a:cs typeface="Arial"/>
              </a:rPr>
              <a:t>YouTube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6B6B6B"/>
                </a:solidFill>
                <a:latin typeface="Arial"/>
                <a:cs typeface="Arial"/>
              </a:rPr>
              <a:t>API remota</a:t>
            </a:r>
          </a:p>
        </p:txBody>
      </p:sp>
      <p:sp>
        <p:nvSpPr>
          <p:cNvPr id="20" name="Forma 20"/>
          <p:cNvSpPr/>
          <p:nvPr/>
        </p:nvSpPr>
        <p:spPr>
          <a:xfrm>
            <a:off x="914400" y="406908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1.ª solicitud del video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La caché está vacía: el proxy delega en la biblioteca, que descarga desde YouTube, y guarda el resultado.</a:t>
            </a:r>
          </a:p>
        </p:txBody>
      </p:sp>
      <p:sp>
        <p:nvSpPr>
          <p:cNvPr id="21" name="Forma 21"/>
          <p:cNvSpPr/>
          <p:nvPr/>
        </p:nvSpPr>
        <p:spPr>
          <a:xfrm>
            <a:off x="6263640" y="406908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400" b="1" i="0" dirty="0">
                <a:solidFill>
                  <a:srgbClr val="C79A2B"/>
                </a:solidFill>
                <a:latin typeface="Arial"/>
                <a:cs typeface="Arial"/>
              </a:rPr>
              <a:t>Solicitudes repetidas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333333"/>
                </a:solidFill>
                <a:latin typeface="Arial"/>
                <a:cs typeface="Arial"/>
              </a:rPr>
              <a:t>El proxy responde desde la caché. Cero descargas extra, menos ancho de banda y una app más rápida.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Estructura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283464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54A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Cliente</a:t>
            </a:r>
          </a:p>
        </p:txBody>
      </p:sp>
      <p:sp>
        <p:nvSpPr>
          <p:cNvPr id="13" name="Forma 13"/>
          <p:cNvSpPr/>
          <p:nvPr/>
        </p:nvSpPr>
        <p:spPr>
          <a:xfrm>
            <a:off x="3017520" y="1691640"/>
            <a:ext cx="3017520" cy="1143000"/>
          </a:xfrm>
          <a:prstGeom prst="rect">
            <a:avLst/>
          </a:prstGeom>
          <a:solidFill>
            <a:srgbClr val="E6F1EB"/>
          </a:solidFill>
          <a:ln w="19050">
            <a:solidFill>
              <a:srgbClr val="00754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6B6B6B"/>
                </a:solidFill>
                <a:latin typeface="Arial"/>
                <a:cs typeface="Arial"/>
              </a:rPr>
              <a:t>«interfaz»</a:t>
            </a:r>
          </a:p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InterfazServicio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Courier New"/>
                <a:cs typeface="Courier New"/>
              </a:rPr>
              <a:t>+ operacion()</a:t>
            </a:r>
          </a:p>
        </p:txBody>
      </p:sp>
      <p:sp>
        <p:nvSpPr>
          <p:cNvPr id="14" name="Forma 14"/>
          <p:cNvSpPr/>
          <p:nvPr/>
        </p:nvSpPr>
        <p:spPr>
          <a:xfrm>
            <a:off x="2194560" y="393192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54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Servicio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Courier New"/>
                <a:cs typeface="Courier New"/>
              </a:rPr>
              <a:t>+ operacion()</a:t>
            </a:r>
          </a:p>
        </p:txBody>
      </p:sp>
      <p:sp>
        <p:nvSpPr>
          <p:cNvPr id="15" name="Forma 15"/>
          <p:cNvSpPr/>
          <p:nvPr/>
        </p:nvSpPr>
        <p:spPr>
          <a:xfrm>
            <a:off x="4754880" y="3931920"/>
            <a:ext cx="2651760" cy="1234440"/>
          </a:xfrm>
          <a:prstGeom prst="rect">
            <a:avLst/>
          </a:prstGeom>
          <a:solidFill>
            <a:srgbClr val="00754A"/>
          </a:solidFill>
          <a:ln w="19050">
            <a:solidFill>
              <a:srgbClr val="00754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FFFFFF"/>
                </a:solidFill>
                <a:latin typeface="Courier New"/>
                <a:cs typeface="Courier New"/>
              </a:rPr>
              <a:t>- servicio: Servicio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FFFFFF"/>
                </a:solidFill>
                <a:latin typeface="Courier New"/>
                <a:cs typeface="Courier New"/>
              </a:rPr>
              <a:t>+ operacion()</a:t>
            </a:r>
          </a:p>
        </p:txBody>
      </p:sp>
      <p:cxnSp>
        <p:nvCxnSpPr>
          <p:cNvPr id="16" name="Conector 16"/>
          <p:cNvCxnSpPr/>
          <p:nvPr/>
        </p:nvCxnSpPr>
        <p:spPr>
          <a:xfrm flipV="1">
            <a:off x="2286000" y="2468880"/>
            <a:ext cx="731520" cy="77724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cxnSp>
        <p:nvCxnSpPr>
          <p:cNvPr id="17" name="Conector 17"/>
          <p:cNvCxnSpPr/>
          <p:nvPr/>
        </p:nvCxnSpPr>
        <p:spPr>
          <a:xfrm flipV="1">
            <a:off x="3291840" y="2834640"/>
            <a:ext cx="640080" cy="1097280"/>
          </a:xfrm>
          <a:prstGeom prst="straightConnector1">
            <a:avLst/>
          </a:prstGeom>
          <a:ln w="19050">
            <a:solidFill>
              <a:srgbClr val="00754A"/>
            </a:solidFill>
            <a:prstDash val="dash"/>
            <a:tailEnd type="triangle" w="med" len="med"/>
          </a:ln>
        </p:spPr>
      </p:cxnSp>
      <p:cxnSp>
        <p:nvCxnSpPr>
          <p:cNvPr id="18" name="Conector 18"/>
          <p:cNvCxnSpPr/>
          <p:nvPr/>
        </p:nvCxnSpPr>
        <p:spPr>
          <a:xfrm flipH="1" flipV="1">
            <a:off x="5120640" y="2834640"/>
            <a:ext cx="640080" cy="1097280"/>
          </a:xfrm>
          <a:prstGeom prst="straightConnector1">
            <a:avLst/>
          </a:prstGeom>
          <a:ln w="19050">
            <a:solidFill>
              <a:srgbClr val="00754A"/>
            </a:solidFill>
            <a:prstDash val="dash"/>
            <a:tailEnd type="triangle" w="med" len="med"/>
          </a:ln>
        </p:spPr>
      </p:cxnSp>
      <p:cxnSp>
        <p:nvCxnSpPr>
          <p:cNvPr id="19" name="Conector 19"/>
          <p:cNvCxnSpPr/>
          <p:nvPr/>
        </p:nvCxnSpPr>
        <p:spPr>
          <a:xfrm flipH="1">
            <a:off x="4434840" y="4709160"/>
            <a:ext cx="320040" cy="0"/>
          </a:xfrm>
          <a:prstGeom prst="straightConnector1">
            <a:avLst/>
          </a:prstGeom>
          <a:ln w="19050">
            <a:solidFill>
              <a:srgbClr val="00754A"/>
            </a:solidFill>
            <a:tailEnd type="triangle" w="med" len="med"/>
          </a:ln>
        </p:spPr>
      </p:cxnSp>
      <p:sp>
        <p:nvSpPr>
          <p:cNvPr id="20" name="Forma 20"/>
          <p:cNvSpPr/>
          <p:nvPr/>
        </p:nvSpPr>
        <p:spPr>
          <a:xfrm>
            <a:off x="914400" y="2423160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1" name="Forma 21"/>
          <p:cNvSpPr/>
          <p:nvPr/>
        </p:nvSpPr>
        <p:spPr>
          <a:xfrm>
            <a:off x="2834640" y="1508760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Forma 22"/>
          <p:cNvSpPr/>
          <p:nvPr/>
        </p:nvSpPr>
        <p:spPr>
          <a:xfrm>
            <a:off x="2011680" y="3749040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Forma 23"/>
          <p:cNvSpPr/>
          <p:nvPr/>
        </p:nvSpPr>
        <p:spPr>
          <a:xfrm>
            <a:off x="7223760" y="3749040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914400" y="5349240"/>
            <a:ext cx="6492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1" dirty="0">
                <a:solidFill>
                  <a:srgbClr val="6B6B6B"/>
                </a:solidFill>
                <a:latin typeface="Arial"/>
                <a:cs typeface="Arial"/>
              </a:rPr>
              <a:t>Línea punteada = implementa la interfaz · Línea continua = usa / delega</a:t>
            </a:r>
          </a:p>
        </p:txBody>
      </p:sp>
      <p:sp>
        <p:nvSpPr>
          <p:cNvPr id="25" name="Forma 25"/>
          <p:cNvSpPr/>
          <p:nvPr/>
        </p:nvSpPr>
        <p:spPr>
          <a:xfrm>
            <a:off x="7863840" y="1463040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8366760" y="141732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Interfaz de servicio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Define el contrato que el proxy debe respetar para hacerse pasar por el servicio.</a:t>
            </a:r>
          </a:p>
        </p:txBody>
      </p:sp>
      <p:sp>
        <p:nvSpPr>
          <p:cNvPr id="27" name="Forma 27"/>
          <p:cNvSpPr/>
          <p:nvPr/>
        </p:nvSpPr>
        <p:spPr>
          <a:xfrm>
            <a:off x="7863840" y="2441448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8366760" y="2395728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Servicio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Clase con la lógica de negocio útil.</a:t>
            </a:r>
          </a:p>
        </p:txBody>
      </p:sp>
      <p:sp>
        <p:nvSpPr>
          <p:cNvPr id="29" name="Forma 29"/>
          <p:cNvSpPr/>
          <p:nvPr/>
        </p:nvSpPr>
        <p:spPr>
          <a:xfrm>
            <a:off x="7863840" y="3419856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8366760" y="3374136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Proxy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Guarda una referencia al servicio; hace su trabajo (caché, acceso, registro…) y luego delega. Suele gestionar el ciclo de vida del servicio.</a:t>
            </a:r>
          </a:p>
        </p:txBody>
      </p:sp>
      <p:sp>
        <p:nvSpPr>
          <p:cNvPr id="31" name="Forma 31"/>
          <p:cNvSpPr/>
          <p:nvPr/>
        </p:nvSpPr>
        <p:spPr>
          <a:xfrm>
            <a:off x="7863840" y="4672584"/>
            <a:ext cx="347472" cy="347472"/>
          </a:xfrm>
          <a:prstGeom prst="ellipse">
            <a:avLst/>
          </a:prstGeom>
          <a:solidFill>
            <a:srgbClr val="C7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exto 32"/>
          <p:cNvSpPr txBox="1"/>
          <p:nvPr/>
        </p:nvSpPr>
        <p:spPr>
          <a:xfrm>
            <a:off x="8366760" y="4626864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400" b="1" i="0" dirty="0">
                <a:solidFill>
                  <a:srgbClr val="13501B"/>
                </a:solidFill>
                <a:latin typeface="Arial"/>
                <a:cs typeface="Arial"/>
              </a:rPr>
              <a:t>Cliente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dirty="0">
                <a:solidFill>
                  <a:srgbClr val="333333"/>
                </a:solidFill>
                <a:latin typeface="Arial"/>
                <a:cs typeface="Arial"/>
              </a:rPr>
              <a:t>Trabaja con servicio y proxy a través de la misma interfaz.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Analogía del mundo real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600200"/>
            <a:ext cx="2926080" cy="1554480"/>
          </a:xfrm>
          <a:prstGeom prst="roundRect">
            <a:avLst>
              <a:gd name="adj" fmla="val 10000"/>
            </a:avLst>
          </a:prstGeom>
          <a:solidFill>
            <a:srgbClr val="00754A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FFFFFF"/>
                </a:solidFill>
                <a:latin typeface="Arial"/>
                <a:cs typeface="Arial"/>
              </a:rPr>
              <a:t>Tarjeta de crédito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FFFFFF"/>
                </a:solidFill>
                <a:latin typeface="Arial"/>
                <a:cs typeface="Arial"/>
              </a:rPr>
              <a:t>proxy de la cuenta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3886200" y="2377440"/>
            <a:ext cx="54864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14" name="Forma 14"/>
          <p:cNvSpPr/>
          <p:nvPr/>
        </p:nvSpPr>
        <p:spPr>
          <a:xfrm>
            <a:off x="4480560" y="1600200"/>
            <a:ext cx="2926080" cy="155448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13501B"/>
                </a:solidFill>
                <a:latin typeface="Arial"/>
                <a:cs typeface="Arial"/>
              </a:rPr>
              <a:t>Cuenta bancaria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6B6B6B"/>
                </a:solidFill>
                <a:latin typeface="Arial"/>
                <a:cs typeface="Arial"/>
              </a:rPr>
              <a:t>proxy del efectivo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7452360" y="2377440"/>
            <a:ext cx="54864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16" name="Forma 16"/>
          <p:cNvSpPr/>
          <p:nvPr/>
        </p:nvSpPr>
        <p:spPr>
          <a:xfrm>
            <a:off x="8046720" y="1600200"/>
            <a:ext cx="29260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0754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13501B"/>
                </a:solidFill>
                <a:latin typeface="Arial"/>
                <a:cs typeface="Arial"/>
              </a:rPr>
              <a:t>Efectivo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dirty="0">
                <a:solidFill>
                  <a:srgbClr val="6B6B6B"/>
                </a:solidFill>
                <a:latin typeface="Arial"/>
                <a:cs typeface="Arial"/>
              </a:rPr>
              <a:t>el objeto “real”</a:t>
            </a:r>
          </a:p>
        </p:txBody>
      </p:sp>
      <p:sp>
        <p:nvSpPr>
          <p:cNvPr id="17" name="Forma 17"/>
          <p:cNvSpPr/>
          <p:nvPr/>
        </p:nvSpPr>
        <p:spPr>
          <a:xfrm>
            <a:off x="4023360" y="33832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C79A2B"/>
                </a:solidFill>
                <a:latin typeface="Courier New"/>
                <a:cs typeface="Courier New"/>
              </a:rPr>
              <a:t xml:space="preserve">Interfaz común:  pagar()</a:t>
            </a:r>
          </a:p>
        </p:txBody>
      </p:sp>
      <p:sp>
        <p:nvSpPr>
          <p:cNvPr id="18" name="Forma 18"/>
          <p:cNvSpPr/>
          <p:nvPr/>
        </p:nvSpPr>
        <p:spPr>
          <a:xfrm>
            <a:off x="914400" y="420624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19" name="Texto 19"/>
          <p:cNvSpPr txBox="1"/>
          <p:nvPr/>
        </p:nvSpPr>
        <p:spPr>
          <a:xfrm>
            <a:off x="1097280" y="43891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El cliente gana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1097280" y="4864608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333333"/>
                </a:solidFill>
                <a:latin typeface="Arial"/>
                <a:cs typeface="Arial"/>
              </a:rPr>
              <a:t>Paga igual que con efectivo, pero sin cargar billetes encima.</a:t>
            </a:r>
          </a:p>
        </p:txBody>
      </p:sp>
      <p:sp>
        <p:nvSpPr>
          <p:cNvPr id="21" name="Forma 21"/>
          <p:cNvSpPr/>
          <p:nvPr/>
        </p:nvSpPr>
        <p:spPr>
          <a:xfrm>
            <a:off x="6263640" y="420624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2" name="Texto 22"/>
          <p:cNvSpPr txBox="1"/>
          <p:nvPr/>
        </p:nvSpPr>
        <p:spPr>
          <a:xfrm>
            <a:off x="6446520" y="43891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13501B"/>
                </a:solidFill>
                <a:latin typeface="Arial"/>
                <a:cs typeface="Arial"/>
              </a:rPr>
              <a:t>La tienda gana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6446520" y="4864608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dirty="0">
                <a:solidFill>
                  <a:srgbClr val="333333"/>
                </a:solidFill>
                <a:latin typeface="Arial"/>
                <a:cs typeface="Arial"/>
              </a:rPr>
              <a:t>El dinero llega directo a su cuenta, sin riesgo de pérdida o robo camino al banco.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11"/>
          <p:cNvSpPr txBox="1"/>
          <p:nvPr/>
        </p:nvSpPr>
        <p:spPr>
          <a:xfrm>
            <a:off x="905256" y="5669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1" i="0" dirty="0">
                <a:solidFill>
                  <a:srgbClr val="13501B"/>
                </a:solidFill>
                <a:latin typeface="Arial"/>
                <a:cs typeface="Arial"/>
              </a:rPr>
              <a:t>La solución</a:t>
            </a:r>
          </a:p>
        </p:txBody>
      </p:sp>
      <p:sp>
        <p:nvSpPr>
          <p:cNvPr id="12" name="Forma 12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1600200" y="150876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Crear una clase proxy con la </a:t>
            </a: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misma interfaz</a:t>
            </a: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 que el servicio original.</a:t>
            </a:r>
          </a:p>
        </p:txBody>
      </p:sp>
      <p:sp>
        <p:nvSpPr>
          <p:cNvPr id="14" name="Forma 14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1600200" y="246888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Entregar el proxy a los clientes </a:t>
            </a: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en lugar</a:t>
            </a: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 del objeto original.</a:t>
            </a:r>
          </a:p>
        </p:txBody>
      </p:sp>
      <p:sp>
        <p:nvSpPr>
          <p:cNvPr id="16" name="Forma 16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1600200" y="342900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El proxy crea el servicio real cuando hace falta y le </a:t>
            </a: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delega</a:t>
            </a:r>
            <a:r>
              <a:rPr lang="es-CO" sz="1500" b="0" i="0" dirty="0">
                <a:solidFill>
                  <a:srgbClr val="333333"/>
                </a:solidFill>
                <a:latin typeface="Arial"/>
                <a:cs typeface="Arial"/>
              </a:rPr>
              <a:t xml:space="preserve"> el trabajo.</a:t>
            </a:r>
          </a:p>
        </p:txBody>
      </p:sp>
      <p:sp>
        <p:nvSpPr>
          <p:cNvPr id="18" name="Forma 18"/>
          <p:cNvSpPr/>
          <p:nvPr/>
        </p:nvSpPr>
        <p:spPr>
          <a:xfrm>
            <a:off x="914400" y="45720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>
            <a:noFill/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C79A2B"/>
                </a:solidFill>
                <a:latin typeface="Arial"/>
                <a:cs typeface="Arial"/>
              </a:rPr>
              <a:t xml:space="preserve">Ventaja clave: </a:t>
            </a:r>
            <a:r>
              <a:rPr lang="es-CO" sz="1400" b="0" i="0" dirty="0">
                <a:solidFill>
                  <a:srgbClr val="333333"/>
                </a:solidFill>
                <a:latin typeface="Arial"/>
                <a:cs typeface="Arial"/>
              </a:rPr>
              <a:t>se añade comportamiento antes o después de la lógica principal sin tocar la clase original.</a:t>
            </a:r>
          </a:p>
        </p:txBody>
      </p:sp>
      <p:sp>
        <p:nvSpPr>
          <p:cNvPr id="19" name="Forma 19"/>
          <p:cNvSpPr/>
          <p:nvPr/>
        </p:nvSpPr>
        <p:spPr>
          <a:xfrm>
            <a:off x="6217920" y="25146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54A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dirty="0">
                <a:solidFill>
                  <a:srgbClr val="13501B"/>
                </a:solidFill>
                <a:latin typeface="Arial"/>
                <a:cs typeface="Arial"/>
              </a:rPr>
              <a:t>Cliente</a:t>
            </a:r>
          </a:p>
        </p:txBody>
      </p:sp>
      <p:sp>
        <p:nvSpPr>
          <p:cNvPr id="20" name="Forma 20"/>
          <p:cNvSpPr/>
          <p:nvPr/>
        </p:nvSpPr>
        <p:spPr>
          <a:xfrm>
            <a:off x="8001000" y="1600200"/>
            <a:ext cx="1600200" cy="2743200"/>
          </a:xfrm>
          <a:prstGeom prst="roundRect">
            <a:avLst>
              <a:gd name="adj" fmla="val 10000"/>
            </a:avLst>
          </a:prstGeom>
          <a:solidFill>
            <a:srgbClr val="00754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CO" dirty="0"/>
          </a:p>
        </p:txBody>
      </p:sp>
      <p:sp>
        <p:nvSpPr>
          <p:cNvPr id="21" name="Texto 21"/>
          <p:cNvSpPr txBox="1"/>
          <p:nvPr/>
        </p:nvSpPr>
        <p:spPr>
          <a:xfrm>
            <a:off x="8001000" y="173736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</a:p>
        </p:txBody>
      </p:sp>
      <p:sp>
        <p:nvSpPr>
          <p:cNvPr id="22" name="Forma 22"/>
          <p:cNvSpPr/>
          <p:nvPr/>
        </p:nvSpPr>
        <p:spPr>
          <a:xfrm>
            <a:off x="8138160" y="2331720"/>
            <a:ext cx="13258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13501B"/>
                </a:solidFill>
                <a:latin typeface="Arial"/>
                <a:cs typeface="Arial"/>
              </a:rPr>
              <a:t>Inicialización diferida</a:t>
            </a:r>
          </a:p>
        </p:txBody>
      </p:sp>
      <p:sp>
        <p:nvSpPr>
          <p:cNvPr id="23" name="Forma 23"/>
          <p:cNvSpPr/>
          <p:nvPr/>
        </p:nvSpPr>
        <p:spPr>
          <a:xfrm>
            <a:off x="8138160" y="3246120"/>
            <a:ext cx="13258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13501B"/>
                </a:solidFill>
                <a:latin typeface="Arial"/>
                <a:cs typeface="Arial"/>
              </a:rPr>
              <a:t>Caché de resultados</a:t>
            </a:r>
          </a:p>
        </p:txBody>
      </p:sp>
      <p:sp>
        <p:nvSpPr>
          <p:cNvPr id="24" name="Forma 24"/>
          <p:cNvSpPr/>
          <p:nvPr/>
        </p:nvSpPr>
        <p:spPr>
          <a:xfrm>
            <a:off x="10012680" y="2423160"/>
            <a:ext cx="1371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54A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13501B"/>
                </a:solidFill>
                <a:latin typeface="Arial"/>
                <a:cs typeface="Arial"/>
              </a:rPr>
              <a:t>Base de datos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dirty="0">
                <a:solidFill>
                  <a:srgbClr val="6B6B6B"/>
                </a:solidFill>
                <a:latin typeface="Arial"/>
                <a:cs typeface="Arial"/>
              </a:rPr>
              <a:t>servicio real</a:t>
            </a:r>
          </a:p>
        </p:txBody>
      </p:sp>
      <p:cxnSp>
        <p:nvCxnSpPr>
          <p:cNvPr id="25" name="Conector 25"/>
          <p:cNvCxnSpPr/>
          <p:nvPr/>
        </p:nvCxnSpPr>
        <p:spPr>
          <a:xfrm>
            <a:off x="7589520" y="2971800"/>
            <a:ext cx="41148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cxnSp>
        <p:nvCxnSpPr>
          <p:cNvPr id="26" name="Conector 26"/>
          <p:cNvCxnSpPr/>
          <p:nvPr/>
        </p:nvCxnSpPr>
        <p:spPr>
          <a:xfrm>
            <a:off x="9601200" y="2971800"/>
            <a:ext cx="411480" cy="0"/>
          </a:xfrm>
          <a:prstGeom prst="straightConnector1">
            <a:avLst/>
          </a:prstGeom>
          <a:ln w="25400">
            <a:solidFill>
              <a:srgbClr val="00754A"/>
            </a:solidFill>
            <a:tailEnd type="triangle" w="med" len="med"/>
          </a:ln>
        </p:spPr>
      </p:cxnSp>
      <p:sp>
        <p:nvSpPr>
          <p:cNvPr id="27" name="Texto 27"/>
          <p:cNvSpPr txBox="1"/>
          <p:nvPr/>
        </p:nvSpPr>
        <p:spPr>
          <a:xfrm>
            <a:off x="6217920" y="457200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1" dirty="0">
                <a:solidFill>
                  <a:srgbClr val="6B6B6B"/>
                </a:solidFill>
                <a:latin typeface="Arial"/>
                <a:cs typeface="Arial"/>
              </a:rPr>
              <a:t>El proxy se camufla como la base de datos: ni el cliente ni el objeto real saben que está ahí.</a:t>
            </a: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81</Words>
  <Application>Microsoft Office PowerPoint</Application>
  <PresentationFormat>Panorámica</PresentationFormat>
  <Paragraphs>15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Correa Ramirez</dc:creator>
  <cp:lastModifiedBy>Mariana Correa Ramirez</cp:lastModifiedBy>
  <cp:revision>1</cp:revision>
  <dcterms:created xsi:type="dcterms:W3CDTF">2026-01-14T13:42:52Z</dcterms:created>
  <dcterms:modified xsi:type="dcterms:W3CDTF">2026-01-14T19:53:51Z</dcterms:modified>
</cp:coreProperties>
</file>